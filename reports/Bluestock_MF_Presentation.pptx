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8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79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F4E79"/>
                </a:solidFill>
                <a:latin typeface="Arial"/>
              </a:rPr>
              <a:t>Avg NAV Trend — All Schemes (2022–2026)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NAV (Rs.)</c:v>
                </c:pt>
              </c:strCache>
            </c:strRef>
          </c:tx>
          <c:spPr>
            <a:ln w="31750" cap="flat">
              <a:solidFill>
                <a:srgbClr val="2E74B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4B5"/>
              </a:solidFill>
              <a:ln w="9525" cap="flat">
                <a:solidFill>
                  <a:srgbClr val="2E74B5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Jan 2022</c:v>
                </c:pt>
                <c:pt idx="1">
                  <c:v>Jan 2023</c:v>
                </c:pt>
                <c:pt idx="2">
                  <c:v>Jan 2024</c:v>
                </c:pt>
                <c:pt idx="3">
                  <c:v>Jan 2025</c:v>
                </c:pt>
                <c:pt idx="4">
                  <c:v>Jun 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207</c:v>
                </c:pt>
                <c:pt idx="1">
                  <c:v>229</c:v>
                </c:pt>
                <c:pt idx="2">
                  <c:v>265</c:v>
                </c:pt>
                <c:pt idx="3">
                  <c:v>284</c:v>
                </c:pt>
                <c:pt idx="4">
                  <c:v>358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372-44DD-9E1F-E8860CB0B9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79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F4E79"/>
                </a:solidFill>
                <a:latin typeface="Arial"/>
              </a:rPr>
              <a:t>AUM Growth — Top 3 AMCs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D6E4F0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SBI MF</c:v>
                </c:pt>
                <c:pt idx="1">
                  <c:v>ICICI Pru MF</c:v>
                </c:pt>
                <c:pt idx="2">
                  <c:v>HDFC MF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600000</c:v>
                </c:pt>
                <c:pt idx="1">
                  <c:v>500000</c:v>
                </c:pt>
                <c:pt idx="2">
                  <c:v>450000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F9-462C-AD5B-75D04B76A7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SBI MF</c:v>
                </c:pt>
                <c:pt idx="1">
                  <c:v>ICICI Pru MF</c:v>
                </c:pt>
                <c:pt idx="2">
                  <c:v>HDFC MF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1250000</c:v>
                </c:pt>
                <c:pt idx="1">
                  <c:v>880000</c:v>
                </c:pt>
                <c:pt idx="2">
                  <c:v>790000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F9-462C-AD5B-75D04B76A7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79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F4E79"/>
                </a:solidFill>
                <a:latin typeface="Arial"/>
              </a:rPr>
              <a:t>Monthly SIP Inflow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 (Rs. Crore)</c:v>
                </c:pt>
              </c:strCache>
            </c:strRef>
          </c:tx>
          <c:spPr>
            <a:ln w="31750" cap="flat">
              <a:solidFill>
                <a:srgbClr val="1A6FA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6FA3"/>
              </a:solidFill>
              <a:ln w="9525" cap="flat">
                <a:solidFill>
                  <a:srgbClr val="1A6FA3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Jan'22</c:v>
                </c:pt>
                <c:pt idx="1">
                  <c:v>Jul'22</c:v>
                </c:pt>
                <c:pt idx="2">
                  <c:v>Jan'23</c:v>
                </c:pt>
                <c:pt idx="3">
                  <c:v>Jul'23</c:v>
                </c:pt>
                <c:pt idx="4">
                  <c:v>Jan'24</c:v>
                </c:pt>
                <c:pt idx="5">
                  <c:v>Jul'24</c:v>
                </c:pt>
                <c:pt idx="6">
                  <c:v>Jan'25</c:v>
                </c:pt>
                <c:pt idx="7">
                  <c:v>Dec'25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11500</c:v>
                </c:pt>
                <c:pt idx="1">
                  <c:v>12200</c:v>
                </c:pt>
                <c:pt idx="2">
                  <c:v>13800</c:v>
                </c:pt>
                <c:pt idx="3">
                  <c:v>15000</c:v>
                </c:pt>
                <c:pt idx="4">
                  <c:v>17000</c:v>
                </c:pt>
                <c:pt idx="5">
                  <c:v>21500</c:v>
                </c:pt>
                <c:pt idx="6">
                  <c:v>26400</c:v>
                </c:pt>
                <c:pt idx="7">
                  <c:v>31002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B3A-46BF-8FFC-F90885A66E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79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F4E79"/>
                </a:solidFill>
                <a:latin typeface="Arial"/>
              </a:rPr>
              <a:t>Investor Age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Investors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4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E26-4A59-BFA4-FEE265B9E074}"/>
              </c:ext>
            </c:extLst>
          </c:dPt>
          <c:dPt>
            <c:idx val="1"/>
            <c:bubble3D val="0"/>
            <c:spPr>
              <a:solidFill>
                <a:srgbClr val="4A9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E26-4A59-BFA4-FEE265B9E074}"/>
              </c:ext>
            </c:extLst>
          </c:dPt>
          <c:dPt>
            <c:idx val="2"/>
            <c:bubble3D val="0"/>
            <c:spPr>
              <a:solidFill>
                <a:srgbClr val="7ABFE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E26-4A59-BFA4-FEE265B9E074}"/>
              </c:ext>
            </c:extLst>
          </c:dPt>
          <c:dPt>
            <c:idx val="3"/>
            <c:bubble3D val="0"/>
            <c:spPr>
              <a:solidFill>
                <a:srgbClr val="1F4E7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E26-4A59-BFA4-FEE265B9E074}"/>
              </c:ext>
            </c:extLst>
          </c:dPt>
          <c:dPt>
            <c:idx val="4"/>
            <c:bubble3D val="0"/>
            <c:spPr>
              <a:solidFill>
                <a:srgbClr val="A8C8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E26-4A59-BFA4-FEE265B9E07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E26-4A59-BFA4-FEE265B9E07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E26-4A59-BFA4-FEE265B9E07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E26-4A59-BFA4-FEE265B9E07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E26-4A59-BFA4-FEE265B9E074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E26-4A59-BFA4-FEE265B9E07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26–35</c:v>
                </c:pt>
                <c:pt idx="1">
                  <c:v>36–45</c:v>
                </c:pt>
                <c:pt idx="2">
                  <c:v>18–25</c:v>
                </c:pt>
                <c:pt idx="3">
                  <c:v>46–55</c:v>
                </c:pt>
                <c:pt idx="4">
                  <c:v>56+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28</c:v>
                </c:pt>
                <c:pt idx="2">
                  <c:v>18</c:v>
                </c:pt>
                <c:pt idx="3">
                  <c:v>11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E26-4A59-BFA4-FEE265B9E0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79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F4E79"/>
                </a:solidFill>
                <a:latin typeface="Arial"/>
              </a:rPr>
              <a:t>1-Year CAGR by Fund (AMFI Code)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1Y CAGR (%)</c:v>
                </c:pt>
              </c:strCache>
            </c:strRef>
          </c:tx>
          <c:spPr>
            <a:solidFill>
              <a:srgbClr val="2E74B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100033</c:v>
                </c:pt>
                <c:pt idx="1">
                  <c:v>101206</c:v>
                </c:pt>
                <c:pt idx="2">
                  <c:v>100025</c:v>
                </c:pt>
                <c:pt idx="3">
                  <c:v>101207</c:v>
                </c:pt>
                <c:pt idx="4">
                  <c:v>100016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53.23</c:v>
                </c:pt>
                <c:pt idx="1">
                  <c:v>47.92</c:v>
                </c:pt>
                <c:pt idx="2">
                  <c:v>3.7</c:v>
                </c:pt>
                <c:pt idx="3">
                  <c:v>-23.99</c:v>
                </c:pt>
                <c:pt idx="4">
                  <c:v>-2.2200000000000002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CF-4290-A0D9-2A634EC193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D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836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9A4D6-15FC-C57B-590D-BC860C46A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56689D-90D8-C163-58EC-7C908D64E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6749F4-57DF-BAAF-19CC-580E767AE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01825-91D2-4A29-C354-A8034CA2B8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1572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F42D7-E60E-71DA-427F-5B2C43251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BF61B4-33E4-A908-505E-B041ECA5E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2E4A38-3A93-E671-997B-EC56802A9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A4AF2-C9F3-9895-7117-5280928FDF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351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 Fintech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9D9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Fund Analytics Project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2011680" cy="4572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FA8C9"/>
                </a:solidFill>
                <a:latin typeface="Arial" pitchFamily="34" charset="0"/>
                <a:cs typeface="Arial" pitchFamily="34" charset="-120"/>
              </a:rPr>
              <a:t>- Shruti Singhania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863840" y="137160"/>
            <a:ext cx="1005840" cy="1005840"/>
          </a:xfrm>
          <a:prstGeom prst="ellipse">
            <a:avLst/>
          </a:prstGeom>
          <a:solidFill>
            <a:srgbClr val="2E74B5">
              <a:alpha val="40000"/>
            </a:srgbClr>
          </a:solidFill>
          <a:ln w="12700">
            <a:solidFill>
              <a:srgbClr val="2E74B5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0" y="502920"/>
            <a:ext cx="640080" cy="640080"/>
          </a:xfrm>
          <a:prstGeom prst="ellipse">
            <a:avLst/>
          </a:prstGeom>
          <a:solidFill>
            <a:srgbClr val="D6E4F0">
              <a:alpha val="50000"/>
            </a:srgbClr>
          </a:solidFill>
          <a:ln w="12700">
            <a:solidFill>
              <a:srgbClr val="D6E4F0">
                <a:alpha val="50000"/>
              </a:srgbClr>
            </a:solidFill>
            <a:prstDash val="solid"/>
          </a:ln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6A8A60-9FBB-FE14-AD3B-4409C25C8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480" y="129540"/>
            <a:ext cx="1636606" cy="16366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332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Fragmentation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0759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NAV, AUM, SIP data scattered across AMFI in different formats — no single unified source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2677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Benchmark Tracking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4203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can't tell if their fund beats Nifty 50 / Nifty 100 without computing tracking error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429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5021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Reporting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77647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MF reports are static PDFs. Stakeholders need live, drillable dashboards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132588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full-stack Mutual Fund Analytics Platform that: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Ingests NAV / AUM / SIP data via ETL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Stores in a normalised SQLite database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Computes Sharpe, Sortino, Alpha, Beta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Benchmarks vs Nifty 50 / 100 / BSE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Surfaces insights via interactive dashboard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datasets sourced from publicly available, freely accessible AMFI &amp; market data APIs — no proprietary data used.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94436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URL / 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Frequency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AMFI India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amfiindia.com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NAV, AUM, Folio, SIP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/ Monthly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mfapi.in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api.mfapi.in/mf/{code}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Historical NAV (JSON)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mfdata.in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mfdata.in/api/v1/schemes/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NAV + Expense Ratio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NSE India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nseindia.com/reports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Benchmark Index Prices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BSE India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bseindia.com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BSE SmallCap Index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AMFI Monthly Notes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amfiindia.com/research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Industry SIP &amp; Flow 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1A6FA3"/>
          </a:solidFill>
          <a:ln w="12700">
            <a:solidFill>
              <a:srgbClr val="1A6F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05840" y="1645920"/>
            <a:ext cx="155448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2377440" cy="16459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mfapi.in REST API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AMFI website scraping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NSE/BSE CSV downloads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5156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1F6B3E"/>
          </a:solidFill>
          <a:ln w="12700">
            <a:solidFill>
              <a:srgbClr val="1F6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143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840480" y="1645920"/>
            <a:ext cx="155448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737360"/>
            <a:ext cx="2377440" cy="17510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normalisation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parsing &amp; validation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/ Sharpe / Alpha / Beta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detection &amp; flagging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5156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143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675120" y="1645920"/>
            <a:ext cx="155448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737360"/>
            <a:ext cx="2377440" cy="1732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database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Duplicate-key checks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exports for BI layer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54680" y="2651760"/>
            <a:ext cx="13716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9320" y="2651760"/>
            <a:ext cx="13716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Highlights — NAV &amp; AUM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3885416469"/>
              </p:ext>
            </p:extLst>
          </p:nvPr>
        </p:nvGraphicFramePr>
        <p:xfrm>
          <a:off x="365760" y="1271270"/>
          <a:ext cx="3975947" cy="2600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>
            <p:extLst>
              <p:ext uri="{D42A27DB-BD31-4B8C-83A1-F6EECF244321}">
                <p14:modId xmlns:p14="http://schemas.microsoft.com/office/powerpoint/2010/main" val="2452486318"/>
              </p:ext>
            </p:extLst>
          </p:nvPr>
        </p:nvGraphicFramePr>
        <p:xfrm>
          <a:off x="4927599" y="974513"/>
          <a:ext cx="3701627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Highlights — SIP &amp; Investor Behaviour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91440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5577840" y="914400"/>
          <a:ext cx="32918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 1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 — Returns &amp; Risk Ratios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91440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5669280" y="914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Risk-Adjusted Ratios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325880"/>
          <a:ext cx="3200400" cy="235915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Sortino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101206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101207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-0.57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-0.94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 — Alpha, Beta &amp; Drawdown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841857"/>
              </p:ext>
            </p:extLst>
          </p:nvPr>
        </p:nvGraphicFramePr>
        <p:xfrm>
          <a:off x="429768" y="1161288"/>
          <a:ext cx="8229600" cy="252374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AMFI Code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Alpha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Drawdown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Worst Date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0.272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-16.22%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2022-05-12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101206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-11.29%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2023-07-05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101207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-0.065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-35.45%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2026-05-11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-0.058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-24.73%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2022-09-15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-4.31%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2023-07-28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4023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100033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66928" y="431596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Alpha (0.272) — best outperformer vs benchmark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401568" y="4023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101207</a:t>
            </a:r>
            <a:endParaRPr lang="en-US" sz="1300" dirty="0"/>
          </a:p>
        </p:txBody>
      </p:sp>
      <p:sp>
        <p:nvSpPr>
          <p:cNvPr id="3" name="Text 6"/>
          <p:cNvSpPr/>
          <p:nvPr/>
        </p:nvSpPr>
        <p:spPr>
          <a:xfrm>
            <a:off x="3401568" y="431596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Drawdown (-35.45%) — recent (May 2026), high risk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236208" y="40233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100016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36208" y="431596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VaR / CVaR — biggest tail risk in the portfolio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— Industry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449492" y="914400"/>
            <a:ext cx="6305975" cy="3474720"/>
          </a:xfrm>
          <a:prstGeom prst="roundRect">
            <a:avLst>
              <a:gd name="adj" fmla="val 2632"/>
            </a:avLst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Insert Dashboard Screenshot Here 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Recommended: Power BI / Tableau — Executive Overview Page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18DE2C-26B4-E5FD-BE6C-B14F2C02E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186" y="969021"/>
            <a:ext cx="6055361" cy="33513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C2F542-17A8-4469-2B37-817342B6F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F712969-6654-1220-AEB2-7BE2CFDCF957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— Fund Performance</a:t>
            </a:r>
            <a:endParaRPr lang="en-US" sz="2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E9CBC7F-2578-645B-F424-B08BB5642F86}"/>
              </a:ext>
            </a:extLst>
          </p:cNvPr>
          <p:cNvSpPr/>
          <p:nvPr/>
        </p:nvSpPr>
        <p:spPr>
          <a:xfrm>
            <a:off x="1449492" y="914400"/>
            <a:ext cx="6305975" cy="3474720"/>
          </a:xfrm>
          <a:prstGeom prst="roundRect">
            <a:avLst>
              <a:gd name="adj" fmla="val 2632"/>
            </a:avLst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645EDD6-1327-E8A7-2678-A4DDFA352CE9}"/>
              </a:ext>
            </a:extLst>
          </p:cNvPr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Insert Dashboard Screenshot Here ]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95F51B0-FAC6-9F8D-A5CA-C9B6A4465CA2}"/>
              </a:ext>
            </a:extLst>
          </p:cNvPr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Recommended: Power BI / Tableau — Executive Overview Page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1D0B65-F50F-E6AF-880C-655B35DCD04E}"/>
              </a:ext>
            </a:extLst>
          </p:cNvPr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A8BDD7-FF63-FA4D-C08F-C9BDD198F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580" y="973949"/>
            <a:ext cx="6020839" cy="335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260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— Investor Analytics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578186" y="914400"/>
            <a:ext cx="6001173" cy="3474720"/>
          </a:xfrm>
          <a:prstGeom prst="roundRect">
            <a:avLst>
              <a:gd name="adj" fmla="val 2632"/>
            </a:avLst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Insert Dashboard Screenshot Here 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Recommended: Performance Scorecard / Risk Metrics Page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75836E-9014-0F99-B627-D572EFD6B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693" y="971576"/>
            <a:ext cx="5838614" cy="33479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F100A2-091A-E4D2-801C-ED0E400F5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98A852-9540-37BC-BC4A-CFAFC3542141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— Market Trends</a:t>
            </a:r>
            <a:endParaRPr lang="en-US" sz="2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51EDF51-225F-5310-055A-E59F32C38AA4}"/>
              </a:ext>
            </a:extLst>
          </p:cNvPr>
          <p:cNvSpPr/>
          <p:nvPr/>
        </p:nvSpPr>
        <p:spPr>
          <a:xfrm>
            <a:off x="1524000" y="914400"/>
            <a:ext cx="6109547" cy="3474720"/>
          </a:xfrm>
          <a:prstGeom prst="roundRect">
            <a:avLst>
              <a:gd name="adj" fmla="val 2632"/>
            </a:avLst>
          </a:prstGeom>
          <a:solidFill>
            <a:srgbClr val="F0F4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DF77DC8-2492-4864-4B41-21414E19D0B7}"/>
              </a:ext>
            </a:extLst>
          </p:cNvPr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Insert Dashboard Screenshot Here ]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60DCA26-24D9-AFAF-A4CB-04A37A432B80}"/>
              </a:ext>
            </a:extLst>
          </p:cNvPr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Recommended: Power BI / Tableau — Executive Overview Page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9B0D98C-B3B8-A866-8C11-C7A4AE21F12A}"/>
              </a:ext>
            </a:extLst>
          </p:cNvPr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CADF34-99EE-81F6-2703-AD984F0B7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454" y="965131"/>
            <a:ext cx="5987092" cy="337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239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325880"/>
            <a:ext cx="411480" cy="41148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24128" y="109728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grew 73%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42646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NAV rose from Rs. 207 → Rs. 358 over 4.5 years, with three distinct market phases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651760"/>
            <a:ext cx="411480" cy="41148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" y="242316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SBI MF leads AUM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5234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 doubled from Rs. 6 → Rs. 12.5 lakh crore (2022–2025). Top 3 AMCs hold ~40% of analysed AUM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977640"/>
            <a:ext cx="411480" cy="41148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24128" y="374904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hit Rs. 31,002 Cr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407822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SIP inflows grew 170% over the analysis period, hitting a record in Dec 2025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1325880"/>
            <a:ext cx="411480" cy="41148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13248" y="109728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100033 = Top Performer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13248" y="142646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1Y CAGR of 53.23%, Sharpe 1.09, Sortino 1.83, Alpha 0.272 — consistently ranks #1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33172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2651760"/>
            <a:ext cx="411480" cy="41148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13248" y="242316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101207 = Highest Risk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13248" y="275234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drawdown -35.45% (as recent as May 2026). Negative 1Y CAGR of -23.99%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65760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F4F7FB"/>
          </a:solidFill>
          <a:ln w="1270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3977640"/>
            <a:ext cx="411480" cy="411480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13248" y="3749040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Investors Dominate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13248" y="407822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26–35 age group is the largest cohort. MP &amp; Punjab lead SIP contributions by state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2175933"/>
            <a:ext cx="2286000" cy="4572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724</Words>
  <Application>Microsoft Office PowerPoint</Application>
  <PresentationFormat>On-screen Show (16:9)</PresentationFormat>
  <Paragraphs>189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Analytics Platform</dc:title>
  <dc:subject>PptxGenJS Presentation</dc:subject>
  <dc:creator>PptxGenJS</dc:creator>
  <cp:lastModifiedBy>Shruti Singhania</cp:lastModifiedBy>
  <cp:revision>2</cp:revision>
  <dcterms:created xsi:type="dcterms:W3CDTF">2026-06-12T05:54:00Z</dcterms:created>
  <dcterms:modified xsi:type="dcterms:W3CDTF">2026-06-12T06:17:34Z</dcterms:modified>
</cp:coreProperties>
</file>